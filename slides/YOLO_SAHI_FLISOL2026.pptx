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Detecciones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320</c:v>
                  </c:pt>
                  <c:pt idx="1">
                    <c:v>512</c:v>
                  </c:pt>
                  <c:pt idx="2">
                    <c:v>640</c:v>
                  </c:pt>
                  <c:pt idx="3">
                    <c:v>768</c:v>
                  </c:pt>
                  <c:pt idx="4">
                    <c:v>1024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4200</c:v>
                </c:pt>
                <c:pt idx="1">
                  <c:v>3500</c:v>
                </c:pt>
                <c:pt idx="2">
                  <c:v>3050</c:v>
                </c:pt>
                <c:pt idx="3">
                  <c:v>2700</c:v>
                </c:pt>
                <c:pt idx="4">
                  <c:v>2100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5"/>
        <c:axId val="2094734553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Tiempo (s)</c:v>
                </c:pt>
              </c:strCache>
            </c:strRef>
          </c:tx>
          <c:spPr>
            <a:solidFill>
              <a:srgbClr val="2E8B57"/>
            </a:solidFill>
            <a:ln w="25400" cap="flat">
              <a:solidFill>
                <a:srgbClr val="2E8B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2E8B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320</c:v>
                  </c:pt>
                  <c:pt idx="1">
                    <c:v>512</c:v>
                  </c:pt>
                  <c:pt idx="2">
                    <c:v>640</c:v>
                  </c:pt>
                  <c:pt idx="3">
                    <c:v>768</c:v>
                  </c:pt>
                  <c:pt idx="4">
                    <c:v>1024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2.6</c:v>
                </c:pt>
                <c:pt idx="1">
                  <c:v>1.5</c:v>
                </c:pt>
                <c:pt idx="2">
                  <c:v>1.1</c:v>
                </c:pt>
                <c:pt idx="3">
                  <c:v>0.85</c:v>
                </c:pt>
                <c:pt idx="4">
                  <c:v>0.6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Calibri"/>
                  </a:rPr>
                  <a:t>tamaño de slice (px)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Calibri"/>
                  </a:rPr>
                  <a:t>tamaño de slice (px)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NMS</c:v>
                  </c:pt>
                  <c:pt idx="1">
                    <c:v>NMM</c:v>
                  </c:pt>
                  <c:pt idx="2">
                    <c:v>GREEDYNMM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0.285</c:v>
                </c:pt>
                <c:pt idx="1">
                  <c:v>0.298</c:v>
                </c:pt>
                <c:pt idx="2">
                  <c:v>0.305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AP_small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NMS</c:v>
                  </c:pt>
                  <c:pt idx="1">
                    <c:v>NMM</c:v>
                  </c:pt>
                  <c:pt idx="2">
                    <c:v>GREEDYNMM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0.22</c:v>
                </c:pt>
                <c:pt idx="1">
                  <c:v>0.235</c:v>
                </c:pt>
                <c:pt idx="2">
                  <c:v>0.242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mAP@.5:.95</c:v>
                  </c:pt>
                  <c:pt idx="1">
                    <c:v>mAP@.5</c:v>
                  </c:pt>
                  <c:pt idx="2">
                    <c:v>mAP@.75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0.22</c:v>
                </c:pt>
                <c:pt idx="1">
                  <c:v>0.38</c:v>
                </c:pt>
                <c:pt idx="2">
                  <c:v>0.21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 + SAHI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mAP@.5:.95</c:v>
                  </c:pt>
                  <c:pt idx="1">
                    <c:v>mAP@.5</c:v>
                  </c:pt>
                  <c:pt idx="2">
                    <c:v>mAP@.75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</c:v>
                </c:pt>
                <c:pt idx="1">
                  <c:v>0.5</c:v>
                </c:pt>
                <c:pt idx="2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Pequeños</c:v>
                  </c:pt>
                  <c:pt idx="1">
                    <c:v>Medianos</c:v>
                  </c:pt>
                  <c:pt idx="2">
                    <c:v>Grandes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</c:v>
                </c:pt>
                <c:pt idx="1">
                  <c:v>0.33</c:v>
                </c:pt>
                <c:pt idx="2">
                  <c:v>0.46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 + SAHI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Pequeños</c:v>
                  </c:pt>
                  <c:pt idx="1">
                    <c:v>Medianos</c:v>
                  </c:pt>
                  <c:pt idx="2">
                    <c:v>Grandes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0.24</c:v>
                </c:pt>
                <c:pt idx="1">
                  <c:v>0.4</c:v>
                </c:pt>
                <c:pt idx="2">
                  <c:v>0.42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motor</c:v>
                  </c:pt>
                  <c:pt idx="1">
                    <c:v>people</c:v>
                  </c:pt>
                  <c:pt idx="2">
                    <c:v>pedestrian</c:v>
                  </c:pt>
                  <c:pt idx="3">
                    <c:v>bicycle</c:v>
                  </c:pt>
                  <c:pt idx="4">
                    <c:v>car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80</c:v>
                </c:pt>
                <c:pt idx="2">
                  <c:v>120</c:v>
                </c:pt>
                <c:pt idx="3">
                  <c:v>30</c:v>
                </c:pt>
                <c:pt idx="4">
                  <c:v>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 + SAHI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motor</c:v>
                  </c:pt>
                  <c:pt idx="1">
                    <c:v>people</c:v>
                  </c:pt>
                  <c:pt idx="2">
                    <c:v>pedestrian</c:v>
                  </c:pt>
                  <c:pt idx="3">
                    <c:v>bicycle</c:v>
                  </c:pt>
                  <c:pt idx="4">
                    <c:v>car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410</c:v>
                </c:pt>
                <c:pt idx="1">
                  <c:v>310</c:v>
                </c:pt>
                <c:pt idx="2">
                  <c:v>540</c:v>
                </c:pt>
                <c:pt idx="3">
                  <c:v>95</c:v>
                </c:pt>
                <c:pt idx="4">
                  <c:v>720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7830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Mejorando YOLO con SAHI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Detectando lo que YOLO no ve: objetos pequeños en cámaras urbanas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3172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4924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caso: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ciudadana — personas y motos en vista aérea (VisDrone)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LA CHARLA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lo simple a lo avanzado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777240" cy="7772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196596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los objetos pequeños se pierden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807208"/>
            <a:ext cx="777240" cy="7772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072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8800" y="285292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detector single-shot open source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3694176"/>
            <a:ext cx="777240" cy="7772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94176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828800" y="3739896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Slicing: la idea que lo cambia todo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581144"/>
            <a:ext cx="777240" cy="777240"/>
          </a:xfrm>
          <a:prstGeom prst="ellipse">
            <a:avLst/>
          </a:prstGeom>
          <a:solidFill>
            <a:srgbClr val="E8A93B"/>
          </a:solidFill>
          <a:ln w="12700">
            <a:solidFill>
              <a:srgbClr val="E8A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58114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828800" y="4626864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· overlap · postproceso · modos · segmentación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22960" y="5468112"/>
            <a:ext cx="777240" cy="77724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4681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828800" y="5513832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AP_small y el caso de uso real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detección de objetos pequeños cuesta tanto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RAÍZ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 “aplasta” la imagen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detectores redimensionan toda la imagen a su entrada (p. ej. 640×640).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4K, una moto de 40 px queda en ~7 px tras el reescalado.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esa resolución el objeto pierde casi toda su información.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lo lejano y pequeño simplemente no se detecta.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949440" y="1965960"/>
            <a:ext cx="2743200" cy="1828800"/>
          </a:xfrm>
          <a:prstGeom prst="rect">
            <a:avLst/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4K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4380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6676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8972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8972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6676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8972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29800" y="2880360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515600" y="2331720"/>
            <a:ext cx="1097280" cy="1097280"/>
          </a:xfrm>
          <a:prstGeom prst="rect">
            <a:avLst/>
          </a:prstGeom>
          <a:solidFill>
            <a:srgbClr val="F4F7FA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0" y="23317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744200" y="278892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55680" y="278892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44200" y="310896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55680" y="310896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Mismos objetos, una fracción de los píxeles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120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“No es que YOLO sea malo; le damos la imagen aplastada.”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VisDrone: un mar de objetos diminutos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 notebook 02 para generar las estadísticas reales del dataset)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Look Once — el detector single-shot open source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YOLO?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en una sola pasada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Only Look Once”: cajas + clase + confianza de un tirón → rápido.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YOLO11 (AGPL-3.0), comunidad enorme, fácil de usar.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Versátil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Detección, segmentación, pose y clasificación con la misma API.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675120" y="2286000"/>
            <a:ext cx="1554480" cy="100584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rasgos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47888" y="2788920"/>
            <a:ext cx="283464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549640" y="2286000"/>
            <a:ext cx="1554480" cy="100584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4964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4964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 escalas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122408" y="2788920"/>
            <a:ext cx="283464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424160" y="2286000"/>
            <a:ext cx="1554480" cy="1005840"/>
          </a:xfrm>
          <a:prstGeom prst="roundRect">
            <a:avLst>
              <a:gd name="adj" fmla="val 5455"/>
            </a:avLst>
          </a:prstGeom>
          <a:solidFill>
            <a:srgbClr val="3A6EA5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cajas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75120" y="3429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(a vista de pájaro)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892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623560"/>
            <a:ext cx="10607040" cy="0"/>
          </a:xfrm>
          <a:prstGeom prst="line">
            <a:avLst/>
          </a:prstGeom>
          <a:noFill/>
          <a:ln w="25400">
            <a:solidFill>
              <a:srgbClr val="D8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8017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63193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283696" y="5477256"/>
            <a:ext cx="292608" cy="292608"/>
          </a:xfrm>
          <a:prstGeom prst="ellipse">
            <a:avLst/>
          </a:prstGeom>
          <a:solidFill>
            <a:srgbClr val="2E8B5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6424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Aided Hyper Inference — recuperar lo que se perdía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CENTRAL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vez de aplastar… rebanar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no reemplaza a YOLO: lo </a:t>
            </a:r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envuelve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Corta la imagen en mosaicos, detecta en cada uno a resolución nativa y fusiona los resultados.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1828800" cy="1371600"/>
          </a:xfrm>
          <a:prstGeom prst="roundRect">
            <a:avLst>
              <a:gd name="adj" fmla="val 4667"/>
            </a:avLst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154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resolución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17520" y="283464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17520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611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solapamiento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5780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60720" y="283464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60720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×N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52160" y="3611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por slice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0100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503920" y="2834640"/>
            <a:ext cx="1828800" cy="1371600"/>
          </a:xfrm>
          <a:prstGeom prst="roundRect">
            <a:avLst>
              <a:gd name="adj" fmla="val 4667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03920" y="3154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 / NMM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37844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881360" y="2834640"/>
            <a:ext cx="1005840" cy="1371600"/>
          </a:xfrm>
          <a:prstGeom prst="roundRect">
            <a:avLst>
              <a:gd name="adj" fmla="val 6364"/>
            </a:avLst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88136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0" y="3611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objeto pequeño ocupa ahora una fracción MUCHO mayor de su slice → </a:t>
            </a:r>
            <a:pPr algn="ct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detecta.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YOLO, MMDetection, Detectron2, Hugging Face… (licencia MIT)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/ DESPUÉS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misma imagen, el mismo modelo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(Genera la galería con notebook 02 → outputs/gallery/)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Configuraciones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Escalando por complejidad: de un parámetro a entrenar el modelo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TAMAÑO DE SLICE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trade-off fundamental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más pequeño → objetos relativos más grandes → detectas más diminutos.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más slices = más inferencias = más tiempo.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ajusta el slice al tamaño típico de tus objetos.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937760" y="182880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referencia; reemplaza con tu corrida (notebook 02 · slice_sweep).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SOLAPAMIENTO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Overlap: el seguro contra objetos cortados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solape, un objeto en el borde se parte en dos y ninguna mitad se detecta. </a:t>
            </a:r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overlap garantiza que cada objeto aparezca completo en al menos un slice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costa de más slices (zonas oscuras = solapamiento).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· POSTPROCESAMIENTO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Fusionar los duplicados del solape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5760720" cy="2194560"/>
        </p:xfrm>
        <a:graphic>
          <a:graphicData uri="http://schemas.openxmlformats.org/drawingml/2006/table">
            <a:tbl>
              <a:tblPr/>
              <a:tblGrid>
                <a:gridCol w="1737360"/>
                <a:gridCol w="4023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 la caja de menor score cuando dos se solapan demasiado.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Fusiona las cajas solapadas en una sola (mejor para objetos partidos).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GREEDYNMM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 voraz de NMM — el valor por defecto de SAHI.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2976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match: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(solape clásico) o IOS (Intersection over Smaller, mejor al cortar).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675120" y="187452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referencia; reemplaza con tu corrida (notebook 02 · compare_postprocess).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4 · MODOS DE INFERENCIA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Sliced, standard o combinado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9050">
            <a:solidFill>
              <a:srgbClr val="2E8B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474720" cy="64008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Sliced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mosaicos.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objetos pequeños.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2011680"/>
            <a:ext cx="3474720" cy="640080"/>
          </a:xfrm>
          <a:prstGeom prst="rect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17720" y="28803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completa.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objetos grandes.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201168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9050">
            <a:solidFill>
              <a:srgbClr val="0F2A4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2011680"/>
            <a:ext cx="3474720" cy="640080"/>
          </a:xfrm>
          <a:prstGeom prst="rect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Combinado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28803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+ fusión.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robusto, lo más lento.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código solo cambia un flag:  </a:t>
            </a:r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perform_standard_pred=True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activa el modo combinado.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5 · SEGMENTACIÓN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SAHI también mejora las máscaras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7589520" cy="36576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566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(Genera con notebook 02 → outputs/segmentation/)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0" y="1920240"/>
            <a:ext cx="2880360" cy="3657600"/>
          </a:xfrm>
          <a:prstGeom prst="roundRect">
            <a:avLst>
              <a:gd name="adj" fmla="val 2540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1540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YOLO-seg + SAHI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15400" y="26517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pipeline, modelo -seg.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Máscaras a resolución nativa por slice.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Instancias pequeñas que antes no se segmentaban.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Cualitativo: VisDrone no trae máscaras GT.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6 · ENTRENAR EN EL DOMINIO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paso que desbloquea el mAP real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COCO evaluado en VisDrone da mAP ≈ 0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80 clases de COCO no coinciden con las 10 de VisDrone (zero-shot).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en VisDrone alinea las clases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línea: yolo train data=VisDrone.yaml. Luego SAHI exprime el AP_small.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2103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0" y="22128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0.00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903720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zero-shot (COCO)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89720" y="2788920"/>
            <a:ext cx="5029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326880" y="2103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326880" y="22128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0.22+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9464040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fine-tuned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notebook 00 entrena ANTES de medir.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objetos pequeños: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 con imgsz mayor (960/1024) para afinar aún más lo diminuto.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ganamos, medido contra el ground truth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 vs YOLO + SAHI (mAP COCO)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315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2103120"/>
            <a:ext cx="3246120" cy="3383280"/>
          </a:xfrm>
          <a:prstGeom prst="roundRect">
            <a:avLst>
              <a:gd name="adj" fmla="val 225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49640" y="2286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Lectura rápida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49640" y="278892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en todas las métricas.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más grande está en el umbral estricto (.75).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= más recall sin perder precisión.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 (yolo11s fine-tuned en VisDrone); reemplaza con tu corrida (notebook 02).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ESTRELLA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Donde SAHI brilla: objetos pequeños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237744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41080" y="3273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en objetos pequeños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397764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AP_small casi se duplica. En objetos grandes, SAHI no aporta (y puede bajar un poco): por eso existe el modo combinado.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referencia; reemplaza con tu corrida (notebook 02).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· SEGURIDAD CIUDADANA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Más personas y motos detectadas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2103120"/>
            <a:ext cx="3063240" cy="3474720"/>
          </a:xfrm>
          <a:prstGeom prst="roundRect">
            <a:avLst>
              <a:gd name="adj" fmla="val 2388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3252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importa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732520" y="283464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mayor salto está en peatones, personas y motos.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Justo las clases críticas para cámaras urbanas.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9FE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cobertura = menos puntos ciegos.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Detecciones por clase; valores de referencia (notebook 02 · analyze_classes).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INGENIERÍA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Cuándo usar SAHI (y cuándo no)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9050">
            <a:solidFill>
              <a:srgbClr val="2E8B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 conviene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pequeños / lejanos (dron, satélite, CCTV).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de alta resolución.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Escenas densas con muchos objetos.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precisión importa más que el tiempo real.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96596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9050">
            <a:solidFill>
              <a:srgbClr val="E457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hace falta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grandes que llenan el frame.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 estricto sin GPU.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≈ proporcional al nº de slices.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bisturí para lo pequeño, no martillo para todo.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ABIERTO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ecosistema open source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514600"/>
            <a:ext cx="594360" cy="5943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14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YOLO11   </a:t>
            </a:r>
            <a:pPr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AGPL-3.0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· segmentación · pose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63640" y="201168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2514600"/>
            <a:ext cx="594360" cy="5943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14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  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e inferencia optimizada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389120"/>
            <a:ext cx="594360" cy="59436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91640" y="42062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pycocotools   </a:t>
            </a:r>
            <a:pPr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FreeBSD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mAP estándar COCO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8620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4389120"/>
            <a:ext cx="594360" cy="594360"/>
          </a:xfrm>
          <a:prstGeom prst="ellipse">
            <a:avLst/>
          </a:prstGeom>
          <a:solidFill>
            <a:srgbClr val="E8A93B"/>
          </a:solidFill>
          <a:ln w="12700">
            <a:solidFill>
              <a:srgbClr val="E8A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15200" y="42062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  </a:t>
            </a:r>
            <a:pPr indent="0" marL="0">
              <a:buNone/>
            </a:pPr>
            <a:r>
              <a:rPr lang="en-US" sz="1100" b="1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Anotación y utilidades de visión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te llevas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21488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aplasta, SAHI rebana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Recuperas objetos pequeños sin reentrenar la arquitectura.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063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medible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 salto real está en AP_small — el caso de cámaras urbanas.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9776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controlas la complejidad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Slice · overlap · postproceso · modos · segmentación · fine-tune.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8920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open source y reproducible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Ultralytics + SAHI + VisDrone, todo abierto.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experimentos en vivo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4375E"/>
          </a:solidFill>
          <a:ln w="12700">
            <a:solidFill>
              <a:srgbClr val="1C4A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206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github.com/TU-USUARIO/yolo-sahi-flisol2026
</a:t>
            </a:r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ultralytics.com  ·  github.com/obss/sahi  ·  VisDrone2019-DET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Mejorando YOLO con SAHI</dc:title>
  <dc:subject>PptxGenJS Presentation</dc:subject>
  <dc:creator>FLISOL 2026</dc:creator>
  <cp:lastModifiedBy>FLISOL 2026</cp:lastModifiedBy>
  <cp:revision>1</cp:revision>
  <dcterms:created xsi:type="dcterms:W3CDTF">2026-06-05T21:20:17Z</dcterms:created>
  <dcterms:modified xsi:type="dcterms:W3CDTF">2026-06-05T21:20:17Z</dcterms:modified>
</cp:coreProperties>
</file>